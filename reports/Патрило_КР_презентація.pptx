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8"/>
  </p:notesMasterIdLst>
  <p:sldIdLst>
    <p:sldId id="276" r:id="rId6"/>
    <p:sldId id="258" r:id="rId7"/>
    <p:sldId id="277" r:id="rId8"/>
    <p:sldId id="281" r:id="rId9"/>
    <p:sldId id="282" r:id="rId10"/>
    <p:sldId id="280" r:id="rId11"/>
    <p:sldId id="278" r:id="rId12"/>
    <p:sldId id="284" r:id="rId13"/>
    <p:sldId id="287" r:id="rId14"/>
    <p:sldId id="283" r:id="rId15"/>
    <p:sldId id="274" r:id="rId16"/>
    <p:sldId id="285" r:id="rId1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22"/>
    <p:restoredTop sz="94708"/>
  </p:normalViewPr>
  <p:slideViewPr>
    <p:cSldViewPr snapToGrid="0">
      <p:cViewPr varScale="1">
        <p:scale>
          <a:sx n="75" d="100"/>
          <a:sy n="75" d="100"/>
        </p:scale>
        <p:origin x="82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3CE6D-C083-844C-A2BA-F9925CEEB559}" type="datetimeFigureOut">
              <a:rPr lang="en-UA" smtClean="0"/>
              <a:t>05/16/2026</a:t>
            </a:fld>
            <a:endParaRPr lang="en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3CFCC-09C0-F543-A8D0-D0C78E9DEA05}" type="slidenum">
              <a:rPr lang="en-UA" smtClean="0"/>
              <a:t>‹№›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527574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30538-E508-AA47-8A15-B077B91F47AF}" type="slidenum">
              <a:rPr kumimoji="0" lang="en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38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3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91488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4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84276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5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346021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6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245804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uk-UA" b="0" i="0" u="none" strike="noStrike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7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899859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uk-UA" b="0" i="0" u="none" strike="noStrike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8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102095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557F-B29A-E19F-AB10-AF8EB551B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3D14D-8FD3-8AE6-169E-F69D3581B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BDF4B-6779-0170-E011-ED3E99CA4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uk-UA" b="0" i="0" u="none" strike="noStrike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D571A-BB81-BF00-3DAA-9116A364F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9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47934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uk-UA" b="0" i="0" u="none" strike="noStrike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10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952193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11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457804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12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7807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Зразок підзаголовка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16.05.2026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309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16.05.2026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9703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16.05.2026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0179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16.05.2026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83087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16.05.2026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5588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16.05.2026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177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16.05.2026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83607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16.05.2026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50522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16.05.2026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7304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16.05.2026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08874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16.05.2026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16257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8C01-C537-CBA0-A081-ED4EFF028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B52BC-FB99-7F1C-8001-6CA95B102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0C128-4DC0-D802-E18E-B90917CB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C3D-CAFD-3D4F-B164-06B104048945}" type="datetime1">
              <a:rPr lang="en-US" smtClean="0"/>
              <a:t>5/16/2026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54729-B83D-6E5C-B81C-22C2A925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1E50-2CA7-4496-CB41-9519D3A0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‹№›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44462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25ED-3B3A-23A0-B54B-F44C7BD3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6DE6-7CA7-5632-36A8-B840E8E85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A0904-D05C-0AA6-C49A-97536129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085A-5938-CE4B-9DF4-CF315E93FC1E}" type="datetime1">
              <a:rPr lang="en-US" smtClean="0"/>
              <a:t>5/16/2026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859E-3DE3-DF55-1F6A-86C3AE55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45522-42A5-41A2-FB3C-6CC8FCE8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‹№›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314825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8F1D-9CD4-39D8-9913-79D452A2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ED8C9-776D-2DE5-5597-515E48FCF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1395F-435D-23E0-85F2-74319CFC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BB565-B15F-284C-917B-D03BDAFB25D0}" type="datetime1">
              <a:rPr lang="en-US" smtClean="0"/>
              <a:t>5/16/2026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C1888-8C2A-E741-DA04-1797B019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0A543-1617-D8B9-5779-8B7C82B8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‹№›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1737477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FDC2-ADAE-6DE7-8C6B-FB3F63F8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B919-D8D8-DAE8-D427-2D8087BE4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BBBF0-648A-1E51-8C28-FE2EA6BBC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6486F-C461-ECB9-78AE-1CBA3E04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2025-B6A1-9A42-B0F8-54D8E9CA33F0}" type="datetime1">
              <a:rPr lang="en-US" smtClean="0"/>
              <a:t>5/16/2026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E57A9-DE4E-65AA-2309-EC6B7621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18506-BA1E-A381-C15F-D9105B4F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‹№›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410432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E089-4385-EE25-CD1F-69CDB384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301C7-DC9E-A5EF-5568-FC862234B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2522-3D41-A899-530F-ACAAA9F9D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7D045-2CE3-B158-56D7-1DDEF30AC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C2A4E-DCD8-69CF-3E9A-AD85E5654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6D8E9-F351-D4A9-2445-A7C9BC40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1047-CBD3-5D46-8C70-BACF11EDAC19}" type="datetime1">
              <a:rPr lang="en-US" smtClean="0"/>
              <a:t>5/16/2026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469BB-0FB8-1E63-C96F-1E58E9C8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FBB5F-D214-D2E4-8203-E46EBF59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‹№›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379068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BA2-1F26-AC79-05BA-2A268A11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D1EE5-65EB-56B6-6E8D-55E6DD2D4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BE73-5F61-BF4E-A2AA-B0D4E0CA154F}" type="datetime1">
              <a:rPr lang="en-US" smtClean="0"/>
              <a:t>5/16/2026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D8161-A087-21E6-4803-8EFD88D5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DE6DA-62D2-3B4C-B330-4FADC553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‹№›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474337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7ED26-3B72-B03E-3F68-435E4E7E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D9CC5-2BD8-044A-99D8-C593C8281B02}" type="datetime1">
              <a:rPr lang="en-US" smtClean="0"/>
              <a:t>5/16/2026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78B6E-051C-9F02-EC68-B0C58F73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CC148-7C52-505E-25EB-BA68B9BB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‹№›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5955724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8571-9CEF-EF34-C125-0B3AD1992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2483-46A7-77A6-675B-5B5BA300A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38D8-AAB1-0068-F7A3-A611A1E40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11A91-3ED2-8427-A331-2EDE5977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8E76-BC7F-524A-A345-2A48A76CADCF}" type="datetime1">
              <a:rPr lang="en-US" smtClean="0"/>
              <a:t>5/16/2026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A088A-4BD8-B9FB-B8A2-6A20BCED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F12D4-8946-36CB-FCA6-564D6EDA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‹№›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638251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3961-C38B-E36F-4575-DDABF672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2C4FF-53AD-5261-33A1-273CD419A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639EF-1831-4AD8-9D6E-50D896C29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8694D-7DAE-5229-CFD2-2E790AE1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B7C3-7324-CC42-89F0-693CC2798C1F}" type="datetime1">
              <a:rPr lang="en-US" smtClean="0"/>
              <a:t>5/16/2026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39055-AC9C-5AB2-7BFF-6C3DD72F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B0EDB-46AB-BFEA-DC00-46E1BA59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‹№›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837596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E05F-12EF-9CA7-087B-FF47E577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18DF5-1B73-7896-CF93-A88C022A9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BAADB-8F77-EEBA-35CC-68A86748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3E6D-5DFB-0D40-A92C-D12944788CE4}" type="datetime1">
              <a:rPr lang="en-US" smtClean="0"/>
              <a:t>5/16/2026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EC63A-9987-FC6C-69DC-E60DFC3A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D714D-C848-B40C-7246-383D0221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‹№›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2104079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E898F-B762-5861-030B-08A3881F9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F8BBF-BADD-0361-A41B-D28639BEB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CA3C7-6175-D8C4-EB97-255147CF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44117-F71E-5048-A23E-D71DDF755124}" type="datetime1">
              <a:rPr lang="en-US" smtClean="0"/>
              <a:t>5/16/2026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9FA1A-A85A-AF57-69F0-93EDB449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618E-A3C5-A411-5BE9-E871E4F7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‹№›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57505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F0B57-8E6A-4005-9EDD-D258F6CC94AB}" type="datetimeFigureOut">
              <a:rPr lang="uk-UA" smtClean="0"/>
              <a:t>16.05.2026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E8BD0-45EB-29FE-3F01-E0953497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12B60-92A6-5D3C-73A3-955A9F96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E7ED2-1692-1E41-C7FC-B8C2935ED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5BD5-9148-6841-BAD7-3A240BDC256D}" type="datetime1">
              <a:rPr lang="en-US" smtClean="0"/>
              <a:t>5/16/2026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E31E-86DE-E102-1D79-5CD1C2D51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B78FE-8BE8-75E7-1610-755174104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8C330-7236-984E-91CE-11EC7AD9038C}" type="slidenum">
              <a:rPr lang="en-UA" smtClean="0"/>
              <a:t>‹№›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5001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hyperlink" Target="https://qpol.qub.ac.uk/climate-change-ireland-climate-emergency-measures-bill/" TargetMode="Externa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gi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2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C0C7-437D-CC26-CAC4-C7FBC74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5" y="2098284"/>
            <a:ext cx="9247254" cy="2289259"/>
          </a:xfrm>
        </p:spPr>
        <p:txBody>
          <a:bodyPr>
            <a:noAutofit/>
          </a:bodyPr>
          <a:lstStyle/>
          <a:p>
            <a:pPr algn="ctr"/>
            <a:r>
              <a:rPr lang="uk-UA" sz="3200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Курсова робота</a:t>
            </a:r>
            <a:br>
              <a:rPr lang="uk-UA" sz="3200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</a:br>
            <a:br>
              <a:rPr lang="en-US" sz="3200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</a:br>
            <a:r>
              <a:rPr lang="uk-UA" sz="2000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Моделюванн</a:t>
            </a:r>
            <a:r>
              <a:rPr lang="uk-UA" sz="2000" dirty="0">
                <a:solidFill>
                  <a:srgbClr val="002060"/>
                </a:solidFill>
                <a:latin typeface="Century Gothic" panose="020B0502020202020204" pitchFamily="34" charset="0"/>
              </a:rPr>
              <a:t>я впливу клімату на ризики прибережних затоплень</a:t>
            </a:r>
            <a:endParaRPr lang="uk-UA" sz="3200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2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E50CA5-07B0-8312-B2A5-14EC91DFCCB5}"/>
              </a:ext>
            </a:extLst>
          </p:cNvPr>
          <p:cNvSpPr txBox="1"/>
          <p:nvPr/>
        </p:nvSpPr>
        <p:spPr>
          <a:xfrm>
            <a:off x="2676305" y="256389"/>
            <a:ext cx="8214637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МІНІСТЕРСТВО ОСВІТИ І НАУКИ УКРАЇНИ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ЛЬВІВСЬКИЙ НАЦІОНАЛЬНИЙ УНІВЕРСИТЕТ ІМЕНІ ІВАНА ФРАНКА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sz="2000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Факультет прикладної математики та інформатики </a:t>
            </a:r>
          </a:p>
          <a:p>
            <a:pPr algn="ctr"/>
            <a:r>
              <a:rPr lang="uk-UA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Кафедра дискретного аналізу та інтелектуальних систем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26903-4104-998E-F8C8-8EF770480562}"/>
              </a:ext>
            </a:extLst>
          </p:cNvPr>
          <p:cNvSpPr txBox="1"/>
          <p:nvPr/>
        </p:nvSpPr>
        <p:spPr>
          <a:xfrm>
            <a:off x="5937941" y="6022547"/>
            <a:ext cx="1691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Львів – 2026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AA154-7F43-06C2-70CD-023D02CEE27A}"/>
              </a:ext>
            </a:extLst>
          </p:cNvPr>
          <p:cNvSpPr txBox="1"/>
          <p:nvPr/>
        </p:nvSpPr>
        <p:spPr>
          <a:xfrm>
            <a:off x="8768080" y="5094513"/>
            <a:ext cx="32631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Студент: Патрило П. Ю</a:t>
            </a:r>
            <a:b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</a:br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Керівник: Онищенко О. А</a:t>
            </a:r>
          </a:p>
        </p:txBody>
      </p:sp>
    </p:spTree>
    <p:extLst>
      <p:ext uri="{BB962C8B-B14F-4D97-AF65-F5344CB8AC3E}">
        <p14:creationId xmlns:p14="http://schemas.microsoft.com/office/powerpoint/2010/main" val="107627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3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156695" y="694563"/>
            <a:ext cx="1935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Проблематика</a:t>
            </a:r>
            <a:endParaRPr lang="en-US" b="1" i="0" u="none" strike="noStrike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542080-C695-AC0C-5370-F08FACFC8E52}"/>
              </a:ext>
            </a:extLst>
          </p:cNvPr>
          <p:cNvSpPr txBox="1"/>
          <p:nvPr/>
        </p:nvSpPr>
        <p:spPr>
          <a:xfrm>
            <a:off x="2156695" y="1063895"/>
            <a:ext cx="55613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endParaRPr lang="uk-UA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endParaRPr lang="uk-UA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CE6CD-8EC6-3B75-FFDC-80AED169F6B4}"/>
              </a:ext>
            </a:extLst>
          </p:cNvPr>
          <p:cNvSpPr txBox="1"/>
          <p:nvPr/>
        </p:nvSpPr>
        <p:spPr>
          <a:xfrm>
            <a:off x="2156695" y="26250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Мета роботи </a:t>
            </a:r>
            <a:endParaRPr lang="en-US" b="1" i="0" u="none" strike="noStrike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231230-5196-9BED-13E9-EA1EE48ABE02}"/>
              </a:ext>
            </a:extLst>
          </p:cNvPr>
          <p:cNvSpPr txBox="1"/>
          <p:nvPr/>
        </p:nvSpPr>
        <p:spPr>
          <a:xfrm>
            <a:off x="2156695" y="46522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Наукова новизна</a:t>
            </a:r>
            <a:endParaRPr lang="en-US" b="1" i="0" u="none" strike="noStrike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795B63D-D737-6601-B463-7AD75950A2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100161" y="879228"/>
            <a:ext cx="3385820" cy="239652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26CA877-2C31-81F0-82C8-68C9B62D8B8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161" y="3721559"/>
            <a:ext cx="3385820" cy="22572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ED8DA33-7100-C500-A5A0-B40701CD91D4}"/>
              </a:ext>
            </a:extLst>
          </p:cNvPr>
          <p:cNvSpPr txBox="1"/>
          <p:nvPr/>
        </p:nvSpPr>
        <p:spPr>
          <a:xfrm>
            <a:off x="2156695" y="1382796"/>
            <a:ext cx="5702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Глобальне потепління спричиняє танення льодовиків та термічне розширення океану, що загрожує прибережним містам.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189BA4-4864-C2FF-5C03-8AADA257CA2B}"/>
              </a:ext>
            </a:extLst>
          </p:cNvPr>
          <p:cNvSpPr txBox="1"/>
          <p:nvPr/>
        </p:nvSpPr>
        <p:spPr>
          <a:xfrm>
            <a:off x="2156695" y="3293889"/>
            <a:ext cx="5561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Розробка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програмного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забезпечення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для точного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моделювання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зон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затоплення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з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урахуванням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гідравлічної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зв'язності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.</a:t>
            </a:r>
            <a:endParaRPr lang="uk-UA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3B46FB-C90D-9A85-EE4E-1D3DBEDA9F91}"/>
              </a:ext>
            </a:extLst>
          </p:cNvPr>
          <p:cNvSpPr txBox="1"/>
          <p:nvPr/>
        </p:nvSpPr>
        <p:spPr>
          <a:xfrm>
            <a:off x="2156695" y="5240107"/>
            <a:ext cx="55613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Інтеграція алгоритму </a:t>
            </a:r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BFS </a:t>
            </a:r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з даними вертикальних рухів земної кори та сучасними сценаріями </a:t>
            </a:r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SSP IPCC AR6.</a:t>
            </a:r>
            <a:endParaRPr lang="uk-UA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7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4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717F55-E3EE-37EA-B9FD-7683C97C7E09}"/>
              </a:ext>
            </a:extLst>
          </p:cNvPr>
          <p:cNvSpPr txBox="1"/>
          <p:nvPr/>
        </p:nvSpPr>
        <p:spPr>
          <a:xfrm>
            <a:off x="1972771" y="661520"/>
            <a:ext cx="6101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Методи моделювання</a:t>
            </a:r>
            <a:endParaRPr lang="en-UA" sz="2000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0DBF85-D956-B5EE-ED70-EA3DDBAAFDF2}"/>
              </a:ext>
            </a:extLst>
          </p:cNvPr>
          <p:cNvSpPr txBox="1"/>
          <p:nvPr/>
        </p:nvSpPr>
        <p:spPr>
          <a:xfrm>
            <a:off x="2541577" y="2719181"/>
            <a:ext cx="36865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Bathub</a:t>
            </a:r>
            <a:r>
              <a:rPr lang="en-US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 model</a:t>
            </a:r>
            <a:endParaRPr lang="uk-UA" sz="16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Просте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заповнення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всіх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територій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нижче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заданого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рівня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.</a:t>
            </a:r>
            <a:endParaRPr lang="uk-UA" sz="16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endParaRPr lang="en-US" sz="16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uk-UA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Зв’язна модель</a:t>
            </a:r>
            <a:endParaRPr lang="en-US" sz="16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Врахування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реальної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досяжності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води через мережу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пікселів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.</a:t>
            </a:r>
            <a:endParaRPr lang="en-US" sz="16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endParaRPr lang="en-US" sz="16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endParaRPr lang="en-US" sz="16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FE575-1328-771E-594D-3466125BA91D}"/>
              </a:ext>
            </a:extLst>
          </p:cNvPr>
          <p:cNvSpPr txBox="1"/>
          <p:nvPr/>
        </p:nvSpPr>
        <p:spPr>
          <a:xfrm>
            <a:off x="2331444" y="12290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Статичні методи </a:t>
            </a:r>
            <a:endParaRPr lang="en-UA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670D12-F932-8D10-8CAE-479A0A446978}"/>
              </a:ext>
            </a:extLst>
          </p:cNvPr>
          <p:cNvSpPr txBox="1"/>
          <p:nvPr/>
        </p:nvSpPr>
        <p:spPr>
          <a:xfrm>
            <a:off x="2331444" y="47655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Динамічні методи </a:t>
            </a:r>
            <a:endParaRPr lang="en-UA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A843F64-731C-016A-8933-137DFF0FBC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251" y="3441966"/>
            <a:ext cx="4572000" cy="2571750"/>
          </a:xfrm>
          <a:prstGeom prst="rect">
            <a:avLst/>
          </a:prstGeom>
        </p:spPr>
      </p:pic>
      <p:pic>
        <p:nvPicPr>
          <p:cNvPr id="14" name="Рисунок 13" descr="Зображення, що містить дизайн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10BE6EC9-F9A9-9E2A-0A4B-E0ABD04DEF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251" y="1255484"/>
            <a:ext cx="4572000" cy="15273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B745273-DE60-850D-8523-B28D9DAF3978}"/>
              </a:ext>
            </a:extLst>
          </p:cNvPr>
          <p:cNvSpPr txBox="1"/>
          <p:nvPr/>
        </p:nvSpPr>
        <p:spPr>
          <a:xfrm>
            <a:off x="2184400" y="5194932"/>
            <a:ext cx="47107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Описують поширення води у просторі та часі шляхом чисельного розв’язання гідродинамічних рівнянь з урахуванням течій, хвиль, вітру та інших фізичних процесів.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F8385630-5D8B-5F65-56EE-E7D969C73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4400" y="1720757"/>
            <a:ext cx="490684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alt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В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изначають потенційно затоплені території шляхом порівняння рівня води з висотою рельєфу.</a:t>
            </a:r>
          </a:p>
        </p:txBody>
      </p:sp>
    </p:spTree>
    <p:extLst>
      <p:ext uri="{BB962C8B-B14F-4D97-AF65-F5344CB8AC3E}">
        <p14:creationId xmlns:p14="http://schemas.microsoft.com/office/powerpoint/2010/main" val="1028433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5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A05B21-F459-812F-04DB-3D31DDA69FA0}"/>
              </a:ext>
            </a:extLst>
          </p:cNvPr>
          <p:cNvSpPr txBox="1"/>
          <p:nvPr/>
        </p:nvSpPr>
        <p:spPr>
          <a:xfrm>
            <a:off x="1883138" y="3308738"/>
            <a:ext cx="6966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Фактори, що впливають на рівень затоплення </a:t>
            </a:r>
            <a:endParaRPr lang="en-UA" sz="20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B718D2-8643-BF22-8F6E-26E56CCCA3A5}"/>
              </a:ext>
            </a:extLst>
          </p:cNvPr>
          <p:cNvSpPr txBox="1"/>
          <p:nvPr/>
        </p:nvSpPr>
        <p:spPr>
          <a:xfrm>
            <a:off x="2108377" y="3854018"/>
            <a:ext cx="479735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     Зміни клімату</a:t>
            </a:r>
          </a:p>
          <a:p>
            <a:pPr algn="just"/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Для оцінки рівня підняття Світового океану використано оцінку 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IPCC (AR6)          </a:t>
            </a: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→  </a:t>
            </a:r>
            <a:endParaRPr lang="uk-UA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     Штормові нагони</a:t>
            </a:r>
          </a:p>
          <a:p>
            <a:pPr algn="just"/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Тимчасові, сезонні </a:t>
            </a:r>
            <a:r>
              <a:rPr lang="uk-UA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згінно</a:t>
            </a: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/</a:t>
            </a:r>
            <a:r>
              <a:rPr lang="uk-UA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нагінні</a:t>
            </a: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явища впливають на рівень підтоплень </a:t>
            </a:r>
          </a:p>
          <a:p>
            <a:pPr algn="just"/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     Вертикальні рухи земної кори</a:t>
            </a:r>
          </a:p>
          <a:p>
            <a:pPr algn="just"/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Спостерігається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поступове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опускання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суші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>
                <a:latin typeface="Century Gothic" panose="020B0502020202020204" pitchFamily="34" charset="0"/>
              </a:rPr>
              <a:t>(</a:t>
            </a:r>
            <a:r>
              <a:rPr lang="uk-UA" sz="1600" b="1" dirty="0">
                <a:latin typeface="Century Gothic" panose="020B0502020202020204" pitchFamily="34" charset="0"/>
              </a:rPr>
              <a:t>0,36 см/рік</a:t>
            </a:r>
            <a:r>
              <a:rPr lang="ru-RU" sz="1600" dirty="0">
                <a:latin typeface="Century Gothic" panose="020B0502020202020204" pitchFamily="34" charset="0"/>
              </a:rPr>
              <a:t>)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що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фактично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збільшує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рівень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води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незалежно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від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танення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льодовиків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.</a:t>
            </a:r>
            <a:endParaRPr lang="en-UA" sz="16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90AF0-72E1-7649-04D2-F0D05DD74FF0}"/>
              </a:ext>
            </a:extLst>
          </p:cNvPr>
          <p:cNvSpPr txBox="1"/>
          <p:nvPr/>
        </p:nvSpPr>
        <p:spPr>
          <a:xfrm>
            <a:off x="1883138" y="71707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Об’єкт досліджуваної території: Одеса</a:t>
            </a:r>
            <a:endParaRPr lang="en-UA" sz="20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FB9B5A5-8646-369B-3277-E1B447768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3602" y="526461"/>
            <a:ext cx="4128798" cy="2426722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D59AFEB-D9AC-4C52-DB9A-981543CDF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3904818"/>
            <a:ext cx="4450080" cy="144357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3895D9D-1184-C519-5877-FD0C528ECA77}"/>
              </a:ext>
            </a:extLst>
          </p:cNvPr>
          <p:cNvSpPr txBox="1"/>
          <p:nvPr/>
        </p:nvSpPr>
        <p:spPr>
          <a:xfrm>
            <a:off x="2141142" y="1228306"/>
            <a:ext cx="476459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Фокус на </a:t>
            </a:r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Північно-Західній частині Чорного моря</a:t>
            </a:r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.</a:t>
            </a:r>
          </a:p>
          <a:p>
            <a:b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</a:b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Використано цифрову модель рельєфу </a:t>
            </a:r>
            <a:r>
              <a:rPr lang="en-US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GLO-30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 (Copernicus DEM) </a:t>
            </a: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з просторовою роздільною здатністю 30 метрів.</a:t>
            </a:r>
          </a:p>
        </p:txBody>
      </p:sp>
    </p:spTree>
    <p:extLst>
      <p:ext uri="{BB962C8B-B14F-4D97-AF65-F5344CB8AC3E}">
        <p14:creationId xmlns:p14="http://schemas.microsoft.com/office/powerpoint/2010/main" val="783583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6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991206"/>
            <a:ext cx="30524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0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Математична модель</a:t>
            </a:r>
            <a:endParaRPr lang="uk-UA" sz="2000" b="1" i="0" u="none" strike="noStrike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F6CF3-366A-1693-B9E6-7D4E94708EA1}"/>
              </a:ext>
            </a:extLst>
          </p:cNvPr>
          <p:cNvSpPr txBox="1"/>
          <p:nvPr/>
        </p:nvSpPr>
        <p:spPr>
          <a:xfrm>
            <a:off x="2083981" y="1818684"/>
            <a:ext cx="495940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Матриця висот</a:t>
            </a:r>
          </a:p>
          <a:p>
            <a:pPr algn="just"/>
            <a:endParaRPr lang="uk-UA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Представлення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DEM як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двовимірного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масиву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висот</a:t>
            </a:r>
            <a:endParaRPr lang="uk-UA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endParaRPr lang="uk-UA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Алгоритм пошуку вшир </a:t>
            </a:r>
            <a:r>
              <a:rPr lang="en-US" b="1" dirty="0">
                <a:solidFill>
                  <a:srgbClr val="002060"/>
                </a:solidFill>
                <a:latin typeface="Century Gothic" panose="020B0502020202020204" pitchFamily="34" charset="0"/>
              </a:rPr>
              <a:t>(BFS)</a:t>
            </a:r>
            <a:endParaRPr lang="uk-UA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endParaRPr lang="uk-UA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Пошук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в ширину на 4-зв'язній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решітці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для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визначення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гідравлічного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шляху води.</a:t>
            </a:r>
            <a:endParaRPr lang="en-UA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endParaRPr lang="uk-UA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Обчислення площі з корекцією </a:t>
            </a:r>
            <a:r>
              <a:rPr lang="uk-UA" b="1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проєкції</a:t>
            </a:r>
            <a:endParaRPr lang="uk-UA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endParaRPr lang="uk-UA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Врахування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зміни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площі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пікселя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залежно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від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широти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для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точних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розрахунків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.</a:t>
            </a:r>
            <a:endParaRPr lang="en-US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just"/>
            <a:endParaRPr lang="en-US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F850F3-E682-D3E1-9664-B782D3922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720" y="1659480"/>
            <a:ext cx="4297680" cy="132416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95016-BAC4-ED45-2BF9-FD42885D3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097" y="5198520"/>
            <a:ext cx="4563112" cy="57158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F85A4E1-4172-A217-F757-B498B79E2E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433" y="3234316"/>
            <a:ext cx="3052439" cy="171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26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7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3159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sz="2000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Програмна реалізація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0B562E-4E40-A165-4E0A-727F227893B2}"/>
              </a:ext>
            </a:extLst>
          </p:cNvPr>
          <p:cNvSpPr txBox="1"/>
          <p:nvPr/>
        </p:nvSpPr>
        <p:spPr>
          <a:xfrm>
            <a:off x="2277021" y="1378220"/>
            <a:ext cx="93133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 Робота з даними</a:t>
            </a:r>
          </a:p>
          <a:p>
            <a:pPr algn="just"/>
            <a:endParaRPr lang="en-UA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Графіка 9">
            <a:extLst>
              <a:ext uri="{FF2B5EF4-FFF2-40B4-BE49-F238E27FC236}">
                <a16:creationId xmlns:a16="http://schemas.microsoft.com/office/drawing/2014/main" id="{610FA31E-E459-DDB4-0BB9-9FC41147EA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71511" y="484824"/>
            <a:ext cx="1219698" cy="1219698"/>
          </a:xfrm>
          <a:prstGeom prst="rect">
            <a:avLst/>
          </a:prstGeom>
        </p:spPr>
      </p:pic>
      <p:pic>
        <p:nvPicPr>
          <p:cNvPr id="12" name="Графіка 11">
            <a:extLst>
              <a:ext uri="{FF2B5EF4-FFF2-40B4-BE49-F238E27FC236}">
                <a16:creationId xmlns:a16="http://schemas.microsoft.com/office/drawing/2014/main" id="{BD13DEE9-43AD-E26B-F961-DAF8811C93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8844" y="2284583"/>
            <a:ext cx="2542365" cy="1144417"/>
          </a:xfrm>
          <a:prstGeom prst="rect">
            <a:avLst/>
          </a:prstGeom>
        </p:spPr>
      </p:pic>
      <p:pic>
        <p:nvPicPr>
          <p:cNvPr id="14" name="Графіка 13">
            <a:extLst>
              <a:ext uri="{FF2B5EF4-FFF2-40B4-BE49-F238E27FC236}">
                <a16:creationId xmlns:a16="http://schemas.microsoft.com/office/drawing/2014/main" id="{5D78E2DA-A0D3-0226-0313-F2181F09CC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4447" y="2308098"/>
            <a:ext cx="3124853" cy="114441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8912437-D98C-1D85-44BD-E115E46DDC0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675" y="2308097"/>
            <a:ext cx="3931671" cy="11444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0D984C0-8835-DD0B-52F0-CC1BA2D5C854}"/>
              </a:ext>
            </a:extLst>
          </p:cNvPr>
          <p:cNvSpPr txBox="1"/>
          <p:nvPr/>
        </p:nvSpPr>
        <p:spPr>
          <a:xfrm>
            <a:off x="2285875" y="3973341"/>
            <a:ext cx="6212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Візуалізація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63840D6-6067-1826-F393-09D49CBD491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785" y="4592337"/>
            <a:ext cx="2386419" cy="1789457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3356F76-9F26-ADE5-A097-8A4AE84AEC6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374" y="4592337"/>
            <a:ext cx="2499360" cy="1462257"/>
          </a:xfrm>
          <a:prstGeom prst="rect">
            <a:avLst/>
          </a:prstGeom>
        </p:spPr>
      </p:pic>
      <p:pic>
        <p:nvPicPr>
          <p:cNvPr id="27" name="Графіка 26">
            <a:extLst>
              <a:ext uri="{FF2B5EF4-FFF2-40B4-BE49-F238E27FC236}">
                <a16:creationId xmlns:a16="http://schemas.microsoft.com/office/drawing/2014/main" id="{F488B071-D77A-97AC-EA25-9FF4E686B5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94483" y="4778374"/>
            <a:ext cx="987340" cy="1144417"/>
          </a:xfrm>
          <a:prstGeom prst="rect">
            <a:avLst/>
          </a:prstGeom>
        </p:spPr>
      </p:pic>
      <p:pic>
        <p:nvPicPr>
          <p:cNvPr id="29" name="Графіка 28">
            <a:extLst>
              <a:ext uri="{FF2B5EF4-FFF2-40B4-BE49-F238E27FC236}">
                <a16:creationId xmlns:a16="http://schemas.microsoft.com/office/drawing/2014/main" id="{1477E60B-7690-7C27-65FE-D6394984A9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00258" y="5094513"/>
            <a:ext cx="3238117" cy="77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760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8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3637166" y="2967335"/>
            <a:ext cx="6550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uk-UA" sz="240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Розглянемо роботу дослідження на відео</a:t>
            </a:r>
          </a:p>
        </p:txBody>
      </p:sp>
    </p:spTree>
    <p:extLst>
      <p:ext uri="{BB962C8B-B14F-4D97-AF65-F5344CB8AC3E}">
        <p14:creationId xmlns:p14="http://schemas.microsoft.com/office/powerpoint/2010/main" val="1269165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39F18-4280-36F3-2DDF-4A22E75D3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4B49B2-907D-DE7E-A961-8514AF8A96A0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93166E-9015-16B9-17ED-6076A8D5EF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F6812-AD19-C68F-B1A8-B30AD2DBD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9</a:t>
            </a:fld>
            <a:endParaRPr lang="en-UA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5A1472-1E1D-1E55-8B77-987A563DEA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5023C4-A503-506E-B829-2A2FE077CB9E}"/>
              </a:ext>
            </a:extLst>
          </p:cNvPr>
          <p:cNvSpPr txBox="1"/>
          <p:nvPr/>
        </p:nvSpPr>
        <p:spPr>
          <a:xfrm>
            <a:off x="4668638" y="1191261"/>
            <a:ext cx="43043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uk-UA" sz="20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Візуальне порівняння затоплень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E9814C-02DA-65F5-C1C0-38231FDF6404}"/>
              </a:ext>
            </a:extLst>
          </p:cNvPr>
          <p:cNvSpPr txBox="1"/>
          <p:nvPr/>
        </p:nvSpPr>
        <p:spPr>
          <a:xfrm>
            <a:off x="2976880" y="2204164"/>
            <a:ext cx="2662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Власне Дослідження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F241A-0DE2-3606-329E-2C1AF2052CAD}"/>
              </a:ext>
            </a:extLst>
          </p:cNvPr>
          <p:cNvSpPr txBox="1"/>
          <p:nvPr/>
        </p:nvSpPr>
        <p:spPr>
          <a:xfrm>
            <a:off x="7982640" y="2199362"/>
            <a:ext cx="3501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Дослідження Центру «</a:t>
            </a:r>
            <a:r>
              <a:rPr lang="uk-UA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Екодія</a:t>
            </a:r>
            <a:r>
              <a:rPr lang="uk-UA" dirty="0">
                <a:solidFill>
                  <a:srgbClr val="002060"/>
                </a:solidFill>
                <a:latin typeface="Century Gothic" panose="020B0502020202020204" pitchFamily="34" charset="0"/>
              </a:rPr>
              <a:t>»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B14C96F-999E-C4CF-D86A-AA9354D7F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722" y="3000038"/>
            <a:ext cx="5568795" cy="264738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13B04AE-56E3-DE11-B5E0-62208398F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0685" y="2974992"/>
            <a:ext cx="3925190" cy="273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4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10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6095999" y="879229"/>
            <a:ext cx="1726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sz="2400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Висновки </a:t>
            </a:r>
            <a:endParaRPr lang="en-US" sz="2400" b="1" i="0" u="none" strike="noStrike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4FBA93-1354-35E7-7C12-36A408CF9CBA}"/>
              </a:ext>
            </a:extLst>
          </p:cNvPr>
          <p:cNvSpPr txBox="1"/>
          <p:nvPr/>
        </p:nvSpPr>
        <p:spPr>
          <a:xfrm>
            <a:off x="2214880" y="1666240"/>
            <a:ext cx="388112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Науково-технічна новизна</a:t>
            </a:r>
          </a:p>
          <a:p>
            <a:endParaRPr lang="uk-UA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342900" indent="-342900">
              <a:buAutoNum type="arabicPeriod"/>
            </a:pPr>
            <a:r>
              <a:rPr lang="uk-UA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Впроваджено алгоритм </a:t>
            </a:r>
            <a:r>
              <a:rPr lang="en-US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BFS</a:t>
            </a:r>
            <a:r>
              <a:rPr lang="uk-UA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:</a:t>
            </a: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Забезпечує гідрологічну коректність, автоматично відсікаючи ізольовані низини</a:t>
            </a:r>
          </a:p>
          <a:p>
            <a:pPr marL="342900" indent="-342900">
              <a:buAutoNum type="arabicPeriod"/>
            </a:pPr>
            <a:r>
              <a:rPr lang="uk-UA" sz="1600" b="1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Геооснова</a:t>
            </a:r>
            <a:r>
              <a:rPr lang="uk-UA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 (</a:t>
            </a:r>
            <a:r>
              <a:rPr lang="en-US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Copernicus GLO-30):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Мінімізує похибки моделювання рельєфу порівняно з попередніми поколіннями 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DEM.</a:t>
            </a:r>
            <a:endParaRPr lang="uk-UA" sz="1600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342900" indent="-342900">
              <a:buAutoNum type="arabicPeriod"/>
            </a:pPr>
            <a:r>
              <a:rPr lang="uk-UA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Алгоритмічна корекція площі:</a:t>
            </a: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Враховує спотворення </a:t>
            </a:r>
            <a:r>
              <a:rPr lang="uk-UA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проєкції</a:t>
            </a: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uk-UA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Меркатора</a:t>
            </a: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залежно від географічної широти пікселів</a:t>
            </a:r>
          </a:p>
          <a:p>
            <a:pPr marL="342900" indent="-342900">
              <a:buAutoNum type="arabicPeriod"/>
            </a:pPr>
            <a:r>
              <a:rPr lang="uk-UA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Комплексність сценаріїв:</a:t>
            </a: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Модель математично поєднує глобальні кліматичні прогнози з локальним тектонічним опусканням.</a:t>
            </a:r>
            <a:endParaRPr lang="uk-UA" sz="16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9CB23C-AB44-BE41-B9FA-631BA3C0948F}"/>
              </a:ext>
            </a:extLst>
          </p:cNvPr>
          <p:cNvSpPr txBox="1"/>
          <p:nvPr/>
        </p:nvSpPr>
        <p:spPr>
          <a:xfrm>
            <a:off x="7822754" y="1666240"/>
            <a:ext cx="41457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60"/>
                </a:solidFill>
                <a:latin typeface="Century Gothic" panose="020B0502020202020204" pitchFamily="34" charset="0"/>
              </a:rPr>
              <a:t>Практичні результати</a:t>
            </a:r>
          </a:p>
          <a:p>
            <a:endParaRPr lang="uk-UA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uk-UA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Інтерактивний програмний комплекс (</a:t>
            </a:r>
            <a:r>
              <a:rPr lang="en-US" sz="1600" b="1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Streamlit</a:t>
            </a:r>
            <a:r>
              <a:rPr lang="en-US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 / Plotly):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Створено інструмент візуалізації для проведення </a:t>
            </a:r>
            <a:r>
              <a:rPr lang="uk-UA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багатосценарного</a:t>
            </a: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аналізу.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b="1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Ідентифікація</a:t>
            </a:r>
            <a:r>
              <a:rPr lang="ru-RU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b="1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критичних</a:t>
            </a:r>
            <a:r>
              <a:rPr lang="ru-RU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 зон </a:t>
            </a:r>
            <a:r>
              <a:rPr lang="ru-RU" sz="1600" b="1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ризику</a:t>
            </a:r>
            <a:r>
              <a:rPr lang="ru-RU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: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Визначено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першочергові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об'єкти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ураження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в низинному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районі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Пересипу</a:t>
            </a:r>
            <a:r>
              <a:rPr lang="ru-RU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600" b="1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Векторизація</a:t>
            </a:r>
            <a:r>
              <a:rPr lang="uk-UA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 та ГІС-інтеграція: </a:t>
            </a: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Реалізовано алгоритм перетворення растрової маски у векторні полігони.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600" b="1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Валідація</a:t>
            </a:r>
            <a:r>
              <a:rPr lang="uk-UA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 та верифікація моделі:</a:t>
            </a: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Здійснено порівняльний аналіз цього дослідження з незалежними матеріалами Центру «</a:t>
            </a:r>
            <a:r>
              <a:rPr lang="uk-UA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Екодія</a:t>
            </a:r>
            <a:r>
              <a:rPr lang="uk-UA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».</a:t>
            </a:r>
            <a:endParaRPr lang="uk-UA" sz="16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94C7C9-C79D-D9C4-C2F2-89873770B2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953" y="637813"/>
            <a:ext cx="938008" cy="938008"/>
          </a:xfrm>
          <a:prstGeom prst="rect">
            <a:avLst/>
          </a:prstGeom>
        </p:spPr>
      </p:pic>
      <p:pic>
        <p:nvPicPr>
          <p:cNvPr id="19" name="Графіка 18">
            <a:extLst>
              <a:ext uri="{FF2B5EF4-FFF2-40B4-BE49-F238E27FC236}">
                <a16:creationId xmlns:a16="http://schemas.microsoft.com/office/drawing/2014/main" id="{6E16BDAD-13A6-6180-531F-F61CAC53DA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9792" y="565560"/>
            <a:ext cx="938008" cy="93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862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Питання?</a:t>
            </a:r>
            <a:endParaRPr lang="en-UA" sz="4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29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</a:t>
            </a:r>
            <a:endParaRPr lang="en-UA" sz="4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1754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F41ECB673D97064A9366DB5DB1A789AE" ma:contentTypeVersion="0" ma:contentTypeDescription="Створення нового документа." ma:contentTypeScope="" ma:versionID="5c6a6932378e786007f2492e4e1f43e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49ddbc3a0d056e9b15676598492582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8C791E-3EE4-4A92-941B-81052D171986}">
  <ds:schemaRefs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5A043CA-E68E-45C1-82CC-7AAEE496C1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519602-8F12-4365-B913-999E0DF433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2609</TotalTime>
  <Words>463</Words>
  <Application>Microsoft Office PowerPoint</Application>
  <PresentationFormat>Широкий екран</PresentationFormat>
  <Paragraphs>88</Paragraphs>
  <Slides>12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слайдів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Söhne</vt:lpstr>
      <vt:lpstr>Times New Roman</vt:lpstr>
      <vt:lpstr>Тема Office</vt:lpstr>
      <vt:lpstr>1_Office Theme</vt:lpstr>
      <vt:lpstr>Презентація PowerPoint</vt:lpstr>
      <vt:lpstr>Курсова робота  Моделювання впливу клімату на ризики прибережних затоплень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pavlo</dc:creator>
  <cp:lastModifiedBy>Патрило Павло</cp:lastModifiedBy>
  <cp:revision>5</cp:revision>
  <dcterms:created xsi:type="dcterms:W3CDTF">2024-02-13T13:27:17Z</dcterms:created>
  <dcterms:modified xsi:type="dcterms:W3CDTF">2026-05-16T18:18:56Z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0x010100F41ECB673D97064A9366DB5DB1A789AE</vt:lpwstr>
  </property>
</Properties>
</file>